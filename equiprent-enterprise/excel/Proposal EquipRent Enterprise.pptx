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50" d="100"/>
          <a:sy n="50" d="100"/>
        </p:scale>
        <p:origin x="412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2012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 dengan konteks: ini penawaran pembuatan sistem EquipRent Enterprise untuk [nama klien]. Nilai investasi langsung ditampilkan supaya transparan sejak awal; rinciannya ada di bagian Investasi.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angka yang perlu diingat klien: 8 modul, 9 peran, 5 bulan sampai go-live, 100 juta all-in. Tekankan bahwa prototype sudah ada sehingga risiko salah paham kebutuhan kecil.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Sesuaikan contoh dengan kondisi klien. Empat masalah ini masing-masing dijawab oleh satu kelompok modul di slide berikutnya.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Ceritakan alur dari kiri atas ke kanan bawah. Poin kunci: data mengalir otomatis, misalnya invoice yang dibayar langsung masuk buku kas, lalu jurnal, lalu laporan pajak.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fitur di slide ini sudah ada di prototype dan bisa didemokan langsung.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 keuangan inilah yang membedakan dari aplikasi rental biasa: laporan kas langsung menjadi jurnal, neraca, laba rugi dan data pajak.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Peran bisa ditambah atau diubah oleh Admin dari menu Peran. Aturan persetujuan perubahan data mengikuti permintaan klien.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Ganti [link prototype] dengan alamat Netlify. Kalau presentasi tatap muka, lakukan demo singkat: buat order, ACC, buat surat jalan, rekap tagihan.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Satu stack saja: Laravel + MySQL. Prototype saat ini sudah disiapkan untuk dipindah ke Laravel.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Jadwal dihitung sejak kontrak ditandatangani dan uang muka diterima. UAT tahap 1 dan 2 sekaligus menjadi titik termin pembayaran.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Baris biru muda = pengembangan modul, total Rp66 juta. Angka per komponen adalah usulan; boleh digeser asal totalnya tetap 100 juta. Pastikan status PPN atas jasa ini sebelum dikirim.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Skema 30/30/30/10 mengurangi risiko klien: mereka membayar setelah melihat hasil. Bisa dinegosiasikan, misalnya 40/30/30 bila butuh uang muka lebih besar untuk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Daftar "tidak termasuk" melindungi kedua pihak. Posisi driver di prototype diisi manual oleh Ekspedisi; GPS otomatis bisa jadi tahap berikutnya. XML Coretax tetap diupload manual oleh tim pajak.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biaya dukungan bulanan sesuai rencana tim. Klien biasanya lebih percaya kalau biaya tahun kedua disebut terang-terangan.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ajakan konkret: jadwalkan demo minggu ini. Isi kontak PIC sebelum dikirim.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53145"/>
            <a:ext cx="10566400" cy="455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13028"/>
            <a:ext cx="10566400" cy="4132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53145"/>
            <a:ext cx="10566400" cy="455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13028"/>
            <a:ext cx="10566400" cy="4132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74000" y="0"/>
            <a:ext cx="4318000" cy="6858000"/>
          </a:xfrm>
          <a:prstGeom prst="rect">
            <a:avLst/>
          </a:prstGeom>
          <a:gradFill rotWithShape="1">
            <a:gsLst>
              <a:gs pos="0">
                <a:srgbClr val="2557D6"/>
              </a:gs>
              <a:gs pos="100000">
                <a:srgbClr val="1B3A86"/>
              </a:gs>
            </a:gsLst>
            <a:lin ang="4200000" scaled="0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493000" y="4826000"/>
            <a:ext cx="1397000" cy="1397000"/>
          </a:xfrm>
          <a:prstGeom prst="roundRect">
            <a:avLst>
              <a:gd name="adj" fmla="val 18182"/>
            </a:avLst>
          </a:prstGeom>
          <a:solidFill>
            <a:srgbClr val="2F6BEA">
              <a:alpha val="5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12800" y="812800"/>
            <a:ext cx="10883392" cy="274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PROPOSAL PENAWARAN · OKTOBER 2026</a:t>
            </a:r>
            <a:endParaRPr lang="en-US" sz="1400" dirty="0"/>
          </a:p>
        </p:txBody>
      </p:sp>
      <p:sp>
        <p:nvSpPr>
          <p:cNvPr id="5" name="Text 3"/>
          <p:cNvSpPr>
            <a:spLocks noGrp="1"/>
          </p:cNvSpPr>
          <p:nvPr>
            <p:ph type="title"/>
          </p:nvPr>
        </p:nvSpPr>
        <p:spPr>
          <a:xfrm>
            <a:off x="812800" y="1894946"/>
            <a:ext cx="6540500" cy="1579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120"/>
              </a:lnSpc>
              <a:buNone/>
            </a:pPr>
            <a:r>
              <a:rPr lang="en-US" sz="6000" b="1" i="0" dirty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EquipRent Enterprise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12800" y="3652485"/>
            <a:ext cx="654050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terintegrasi untuk rental &amp; penjualan alat berat</a:t>
            </a:r>
            <a:r>
              <a:rPr lang="en-US" sz="20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sewa &amp; jual, logistik, pembelian, </a:t>
            </a:r>
            <a:r>
              <a:rPr lang="en-US" sz="20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keuangan, akuntansi dan pajak dalam satu platform.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12800" y="5514358"/>
            <a:ext cx="2398183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Diajukan kepada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5778500"/>
            <a:ext cx="2734733" cy="511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 Tiang Karunia Nusantara</a:t>
            </a:r>
            <a:endParaRPr lang="en-US" sz="1300">
              <a:solidFill>
                <a:srgbClr val="F5F7FB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lnSpc>
                <a:spcPts val="2100"/>
              </a:lnSpc>
              <a:buNone/>
            </a:pPr>
            <a:r>
              <a:rPr lang="en-US" sz="130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u.p. Raindi Andreas, Direktur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47533" y="5514358"/>
            <a:ext cx="161034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Disusun oleh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47533" y="5778500"/>
            <a:ext cx="187145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 IT Freelance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RINGKASAN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78543"/>
            <a:ext cx="9810750" cy="1390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sistem untuk seluruh alur bisnis rental &amp; jual alat berat, dari order pelanggan sampai laporan pajak.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3065374"/>
            <a:ext cx="2520950" cy="2006247"/>
          </a:xfrm>
          <a:prstGeom prst="roundRect">
            <a:avLst>
              <a:gd name="adj" fmla="val 7438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2444" y="3321844"/>
            <a:ext cx="2068251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557D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72444" y="3855244"/>
            <a:ext cx="206825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 terintegrasi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72444" y="4198144"/>
            <a:ext cx="2068251" cy="642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Sewa &amp; jual, tagihan, logistik, pembelian, kas, akuntansi, pajak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95675" y="3065374"/>
            <a:ext cx="2520950" cy="2006247"/>
          </a:xfrm>
          <a:prstGeom prst="roundRect">
            <a:avLst>
              <a:gd name="adj" fmla="val 7438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752145" y="3321844"/>
            <a:ext cx="2068251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>
                <a:solidFill>
                  <a:srgbClr val="2557D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752145" y="3855244"/>
            <a:ext cx="206825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peran pengguna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752145" y="4198144"/>
            <a:ext cx="20682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Hak akses per peran, ubah data lewat persetujuan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5375" y="3065374"/>
            <a:ext cx="2520950" cy="2006247"/>
          </a:xfrm>
          <a:prstGeom prst="roundRect">
            <a:avLst>
              <a:gd name="adj" fmla="val 7438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31845" y="3321844"/>
            <a:ext cx="2068251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557D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bln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431845" y="3855244"/>
            <a:ext cx="206825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pengerjaan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31845" y="4198144"/>
            <a:ext cx="20682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bulan pengerjaan, 4 bulan testing &amp; maintenance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51900" y="3062199"/>
            <a:ext cx="2527300" cy="2012597"/>
          </a:xfrm>
          <a:prstGeom prst="roundRect">
            <a:avLst>
              <a:gd name="adj" fmla="val 7572"/>
            </a:avLst>
          </a:prstGeom>
          <a:solidFill>
            <a:srgbClr val="1623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05900" y="3316199"/>
            <a:ext cx="207987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100 jt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105900" y="3849599"/>
            <a:ext cx="207987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price, all-in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05900" y="4192499"/>
            <a:ext cx="2079879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Termasuk hosting, backup &amp; maintenance tahun pertama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12800" y="5593115"/>
            <a:ext cx="10883392" cy="274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Prototype 68 halaman </a:t>
            </a:r>
            <a:r>
              <a:rPr lang="en-US" sz="1400" b="1" dirty="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sudah bisa dicoba</a:t>
            </a:r>
            <a:r>
              <a:rPr lang="en-US" sz="14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sebelum kontrak, jadi alur dan tampilan bisa disepakati sejak awal.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12800" y="6238258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MASALAH YANG KAMI LIHAT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78542"/>
            <a:ext cx="10883392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Operasional berjalan, tapi datanya terpisah-pisah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41601"/>
            <a:ext cx="5200650" cy="1869193"/>
          </a:xfrm>
          <a:prstGeom prst="roundRect">
            <a:avLst>
              <a:gd name="adj" fmla="val 7983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Boo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2444" y="2198070"/>
            <a:ext cx="355600" cy="355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5844" y="2198070"/>
            <a:ext cx="4278940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Data tercecer di kertas &amp; Excel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605844" y="2548555"/>
            <a:ext cx="4278940" cy="523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Order, surat jalan dan stok dicatat terpisah, sulit dicocokkan dan diaudit.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5375" y="1941601"/>
            <a:ext cx="5200650" cy="1869193"/>
          </a:xfrm>
          <a:prstGeom prst="roundRect">
            <a:avLst>
              <a:gd name="adj" fmla="val 7983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Globe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31845" y="2198070"/>
            <a:ext cx="355600" cy="355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65245" y="2198070"/>
            <a:ext cx="4278940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Pengiriman sulit dipantau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965245" y="2548555"/>
            <a:ext cx="4278940" cy="523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Posisi alat, estimasi tiba </a:t>
            </a:r>
            <a:r>
              <a:rPr lang="en-US" sz="14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 keterlambatan ekspedisi </a:t>
            </a:r>
            <a:r>
              <a:rPr lang="en-US" sz="14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baru diketahui belakangan.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15975" y="3969544"/>
            <a:ext cx="5200650" cy="1869281"/>
          </a:xfrm>
          <a:prstGeom prst="roundRect">
            <a:avLst>
              <a:gd name="adj" fmla="val 7983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Clock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72444" y="4226013"/>
            <a:ext cx="355600" cy="355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05844" y="4226013"/>
            <a:ext cx="4278940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Tagihan &amp; piutang lambat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605844" y="4576497"/>
            <a:ext cx="4278940" cy="523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Rekap sewa dihitung manual; piutang lewat jatuh tempo tidak terlihat saat order baru di-ACC.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175375" y="3969544"/>
            <a:ext cx="5200650" cy="1869281"/>
          </a:xfrm>
          <a:prstGeom prst="roundRect">
            <a:avLst>
              <a:gd name="adj" fmla="val 7983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Chart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31845" y="4226013"/>
            <a:ext cx="355600" cy="3556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65245" y="4226013"/>
            <a:ext cx="4278940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Pembukuan &amp; pajak manual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6965245" y="4576497"/>
            <a:ext cx="4278940" cy="523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Jurnal, neraca, laba rugi dan PPN / PPh 23 disusun ulang dari laporan kas setiap periode.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12800" y="6238258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SOLUSI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2"/>
            <a:ext cx="10883392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alur, dari order sampai laporan pajak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62226"/>
            <a:ext cx="2527300" cy="1442508"/>
          </a:xfrm>
          <a:prstGeom prst="roundRect">
            <a:avLst>
              <a:gd name="adj" fmla="val 8804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0600" y="2040026"/>
            <a:ext cx="2236851" cy="345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90600" y="2423495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Pelanggan &amp; Proyek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90600" y="2715595"/>
            <a:ext cx="22368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Pelanggan memuat proyek, sewa &amp; jual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92500" y="1862226"/>
            <a:ext cx="2527300" cy="1442508"/>
          </a:xfrm>
          <a:prstGeom prst="roundRect">
            <a:avLst>
              <a:gd name="adj" fmla="val 8804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70300" y="2040026"/>
            <a:ext cx="2236851" cy="345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70300" y="2423495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Sewa / Jual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70300" y="2715595"/>
            <a:ext cx="22368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Langsung dari customer: nama alat, qty, harga satuan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862226"/>
            <a:ext cx="2527300" cy="1442508"/>
          </a:xfrm>
          <a:prstGeom prst="roundRect">
            <a:avLst>
              <a:gd name="adj" fmla="val 8804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50000" y="2040026"/>
            <a:ext cx="2236851" cy="345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350000" y="2423495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Persetujuan Order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50000" y="2715595"/>
            <a:ext cx="22368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Setelah pelanggan &amp; proyek dicek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51900" y="1862226"/>
            <a:ext cx="2527300" cy="1442508"/>
          </a:xfrm>
          <a:prstGeom prst="roundRect">
            <a:avLst>
              <a:gd name="adj" fmla="val 8804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29700" y="2040026"/>
            <a:ext cx="2236851" cy="345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029700" y="2423495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Surat Jalan &amp; Ekspedisi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029700" y="2715595"/>
            <a:ext cx="22368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SJ → estimasi → berangkat → posisi → serah terima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2800" y="3457135"/>
            <a:ext cx="2527300" cy="1465439"/>
          </a:xfrm>
          <a:prstGeom prst="roundRect">
            <a:avLst>
              <a:gd name="adj" fmla="val 8666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90600" y="3634935"/>
            <a:ext cx="2236851" cy="345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90600" y="4018404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Pemulangan &amp; Inspeksi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90600" y="4310504"/>
            <a:ext cx="22368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Dari stok proyek; alat rusak didata &amp; diklaim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492500" y="3457135"/>
            <a:ext cx="2527300" cy="1465439"/>
          </a:xfrm>
          <a:prstGeom prst="roundRect">
            <a:avLst>
              <a:gd name="adj" fmla="val 8666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70300" y="3634935"/>
            <a:ext cx="2236851" cy="345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670300" y="4018404"/>
            <a:ext cx="2236851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Rekap Tagihan &amp; Invoice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670300" y="4539104"/>
            <a:ext cx="2349500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s-E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Otomatis dari SJ; kasus khusus manual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72200" y="3457135"/>
            <a:ext cx="2527300" cy="1465439"/>
          </a:xfrm>
          <a:prstGeom prst="roundRect">
            <a:avLst>
              <a:gd name="adj" fmla="val 8666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350000" y="3634935"/>
            <a:ext cx="2236851" cy="345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350000" y="4018404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Pembayaran &amp; Kas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350000" y="4310504"/>
            <a:ext cx="22368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Bon biru / merah, rekonsiliasi bank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851900" y="3457135"/>
            <a:ext cx="2527300" cy="1465439"/>
          </a:xfrm>
          <a:prstGeom prst="roundRect">
            <a:avLst>
              <a:gd name="adj" fmla="val 8666"/>
            </a:avLst>
          </a:prstGeom>
          <a:solidFill>
            <a:srgbClr val="255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029700" y="3634935"/>
            <a:ext cx="2236851" cy="345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DCE6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08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029700" y="4018404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Akuntansi &amp; Pajak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029700" y="4310504"/>
            <a:ext cx="22368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E3EB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Jurnal, neraca, laba rugi, XML Coretax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12800" y="5176572"/>
            <a:ext cx="10883392" cy="274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langkah mengisi data untuk langkah berikutnya, jadi tidak ada input ulang.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12800" y="6238258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A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CAKUPAN SISTEM · 1 / 2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2"/>
            <a:ext cx="10883392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Operasional: sewa &amp; jual, tagihan, logistik, pembelian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65402"/>
            <a:ext cx="2520950" cy="3973425"/>
          </a:xfrm>
          <a:prstGeom prst="roundRect">
            <a:avLst>
              <a:gd name="adj" fmla="val 4912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21644" y="2071070"/>
            <a:ext cx="2172899" cy="5129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Pelanggan, Proyek &amp; Order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26800" y="2660210"/>
            <a:ext cx="2060123" cy="17321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Pelanggan memuat proyek, sewa &amp; jual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Proyek dengan kebutuhan alat &amp; tenggat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dari customer: alat, qty, harga satuan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Disetujui setelah pelanggan &amp; proyek dicek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95675" y="1865402"/>
            <a:ext cx="2520950" cy="3973425"/>
          </a:xfrm>
          <a:prstGeom prst="roundRect">
            <a:avLst>
              <a:gd name="adj" fmla="val 4912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01345" y="2071070"/>
            <a:ext cx="2172899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Tagihan &amp; Piutang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806501" y="2416439"/>
            <a:ext cx="2060123" cy="1945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Rekap tagihan otomatis dari surat jalan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Kasus khusus: rekap disusun manual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Invoice sewa, jual &amp; klaim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Pembayaran cicilan / lunas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5375" y="1865402"/>
            <a:ext cx="2520950" cy="3973425"/>
          </a:xfrm>
          <a:prstGeom prst="roundRect">
            <a:avLst>
              <a:gd name="adj" fmla="val 4912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81045" y="2071070"/>
            <a:ext cx="2172899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Logistik &amp; Stok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86201" y="2416439"/>
            <a:ext cx="2060123" cy="17321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Surat jalan sewa, jual &amp; pemulangan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Ekspedisi, kendaraan &amp; pengemudi didata Logistik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Lama telat ekspedisi tercatat (dasar denda ke ekspedisi)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Inspeksi: daftar alat rusak → klaim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Stok gudang &amp; stok proyek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855075" y="1865402"/>
            <a:ext cx="2520950" cy="3973425"/>
          </a:xfrm>
          <a:prstGeom prst="roundRect">
            <a:avLst>
              <a:gd name="adj" fmla="val 4912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060745" y="2071070"/>
            <a:ext cx="2172899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Pembelian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65901" y="2416439"/>
            <a:ext cx="2060123" cy="17321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 vendor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 disetujui langsung jadi PO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 of payment &amp; pajak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Uang muka, pelunasan, tempo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58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05</a:t>
            </a:r>
            <a:endParaRPr lang="en-US" sz="12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8FA9EB4-C1BF-5AE8-A57B-71B54FA27983}"/>
              </a:ext>
            </a:extLst>
          </p:cNvPr>
          <p:cNvCxnSpPr/>
          <p:nvPr/>
        </p:nvCxnSpPr>
        <p:spPr>
          <a:xfrm>
            <a:off x="1019175" y="5026027"/>
            <a:ext cx="2114550" cy="0"/>
          </a:xfrm>
          <a:prstGeom prst="line">
            <a:avLst/>
          </a:prstGeom>
          <a:ln w="9525">
            <a:solidFill>
              <a:srgbClr val="DCE3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C625D-77B7-1F94-E38D-E81782200856}"/>
              </a:ext>
            </a:extLst>
          </p:cNvPr>
          <p:cNvSpPr/>
          <p:nvPr/>
        </p:nvSpPr>
        <p:spPr>
          <a:xfrm>
            <a:off x="968375" y="5076827"/>
            <a:ext cx="2216150" cy="635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25400" rIns="50800" rtlCol="0" anchor="t"/>
          <a:lstStyle/>
          <a:p>
            <a:r>
              <a:rPr lang="en-US" sz="1200" b="1">
                <a:solidFill>
                  <a:srgbClr val="2557D6"/>
                </a:solidFill>
                <a:latin typeface="Inter" panose="02000503000000020004" pitchFamily="2" charset="0"/>
              </a:rPr>
              <a:t>Laporan:</a:t>
            </a:r>
            <a:r>
              <a:rPr lang="en-US" sz="1200">
                <a:solidFill>
                  <a:srgbClr val="4A5670"/>
                </a:solidFill>
                <a:latin typeface="Inter" panose="02000503000000020004" pitchFamily="2" charset="0"/>
              </a:rPr>
              <a:t> Rekap Project per order &amp; per proyek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A56B37F-D7C5-43FC-A56F-68986C716DF8}"/>
              </a:ext>
            </a:extLst>
          </p:cNvPr>
          <p:cNvCxnSpPr/>
          <p:nvPr/>
        </p:nvCxnSpPr>
        <p:spPr>
          <a:xfrm>
            <a:off x="3698875" y="5026027"/>
            <a:ext cx="2114550" cy="0"/>
          </a:xfrm>
          <a:prstGeom prst="line">
            <a:avLst/>
          </a:prstGeom>
          <a:ln w="9525">
            <a:solidFill>
              <a:srgbClr val="DCE3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56A47BD4-615E-9B61-E164-C8D2DC4E240B}"/>
              </a:ext>
            </a:extLst>
          </p:cNvPr>
          <p:cNvSpPr/>
          <p:nvPr/>
        </p:nvSpPr>
        <p:spPr>
          <a:xfrm>
            <a:off x="3648075" y="5076827"/>
            <a:ext cx="2216150" cy="635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25400" rIns="50800" rtlCol="0" anchor="t"/>
          <a:lstStyle/>
          <a:p>
            <a:r>
              <a:rPr lang="it-IT" sz="1200" b="1">
                <a:solidFill>
                  <a:srgbClr val="2557D6"/>
                </a:solidFill>
                <a:latin typeface="Inter" panose="02000503000000020004" pitchFamily="2" charset="0"/>
              </a:rPr>
              <a:t>Laporan:</a:t>
            </a:r>
            <a:r>
              <a:rPr lang="it-IT" sz="1200">
                <a:solidFill>
                  <a:srgbClr val="4A5670"/>
                </a:solidFill>
                <a:latin typeface="Inter" panose="02000503000000020004" pitchFamily="2" charset="0"/>
              </a:rPr>
              <a:t> Laporan Piutang &amp; umur piutang</a:t>
            </a:r>
            <a:endParaRPr lang="en-US" sz="1200">
              <a:solidFill>
                <a:srgbClr val="4A5670"/>
              </a:solidFill>
              <a:latin typeface="Inter" panose="02000503000000020004" pitchFamily="2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6E5A6EF-BB07-8D27-40EB-CD559D134813}"/>
              </a:ext>
            </a:extLst>
          </p:cNvPr>
          <p:cNvCxnSpPr/>
          <p:nvPr/>
        </p:nvCxnSpPr>
        <p:spPr>
          <a:xfrm>
            <a:off x="6378575" y="5026027"/>
            <a:ext cx="2114550" cy="0"/>
          </a:xfrm>
          <a:prstGeom prst="line">
            <a:avLst/>
          </a:prstGeom>
          <a:ln w="9525">
            <a:solidFill>
              <a:srgbClr val="DCE3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C1D48DF4-81EA-8C20-F7FD-DAC0207F9450}"/>
              </a:ext>
            </a:extLst>
          </p:cNvPr>
          <p:cNvSpPr/>
          <p:nvPr/>
        </p:nvSpPr>
        <p:spPr>
          <a:xfrm>
            <a:off x="6327775" y="5076827"/>
            <a:ext cx="2216150" cy="635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25400" rIns="50800" rtlCol="0" anchor="t"/>
          <a:lstStyle/>
          <a:p>
            <a:r>
              <a:rPr lang="en-US" sz="1200" b="1">
                <a:solidFill>
                  <a:srgbClr val="2557D6"/>
                </a:solidFill>
                <a:latin typeface="Inter" panose="02000503000000020004" pitchFamily="2" charset="0"/>
              </a:rPr>
              <a:t>Laporan:</a:t>
            </a:r>
            <a:r>
              <a:rPr lang="en-US" sz="1200">
                <a:solidFill>
                  <a:srgbClr val="4A5670"/>
                </a:solidFill>
                <a:latin typeface="Inter" panose="02000503000000020004" pitchFamily="2" charset="0"/>
              </a:rPr>
              <a:t> Laporan Stok, Rekap Stok Proyek, keterlambatan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CBC13F9-EAC8-FB9A-FEEA-852521ABD254}"/>
              </a:ext>
            </a:extLst>
          </p:cNvPr>
          <p:cNvCxnSpPr/>
          <p:nvPr/>
        </p:nvCxnSpPr>
        <p:spPr>
          <a:xfrm>
            <a:off x="9058275" y="5026027"/>
            <a:ext cx="2114550" cy="0"/>
          </a:xfrm>
          <a:prstGeom prst="line">
            <a:avLst/>
          </a:prstGeom>
          <a:ln w="9525">
            <a:solidFill>
              <a:srgbClr val="DCE3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1CBF16A4-C0E9-218A-8BED-8BDE8DBA6170}"/>
              </a:ext>
            </a:extLst>
          </p:cNvPr>
          <p:cNvSpPr/>
          <p:nvPr/>
        </p:nvSpPr>
        <p:spPr>
          <a:xfrm>
            <a:off x="9007475" y="5076827"/>
            <a:ext cx="2216150" cy="635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25400" rIns="50800" rtlCol="0" anchor="t"/>
          <a:lstStyle/>
          <a:p>
            <a:r>
              <a:rPr lang="sv-SE" sz="1200" b="1">
                <a:solidFill>
                  <a:srgbClr val="2557D6"/>
                </a:solidFill>
                <a:latin typeface="Inter" panose="02000503000000020004" pitchFamily="2" charset="0"/>
              </a:rPr>
              <a:t>Laporan:</a:t>
            </a:r>
            <a:r>
              <a:rPr lang="sv-SE" sz="1200">
                <a:solidFill>
                  <a:srgbClr val="4A5670"/>
                </a:solidFill>
                <a:latin typeface="Inter" panose="02000503000000020004" pitchFamily="2" charset="0"/>
              </a:rPr>
              <a:t> Laporan Pembelian &amp; Hutang Dagang</a:t>
            </a:r>
            <a:endParaRPr lang="en-US" sz="1200">
              <a:solidFill>
                <a:srgbClr val="4A5670"/>
              </a:solidFill>
              <a:latin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CAKUPAN SISTEM · 2 / 2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2"/>
            <a:ext cx="10883392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Keuangan: kas, akuntansi, pajak, administrasi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65402"/>
            <a:ext cx="2520950" cy="3973425"/>
          </a:xfrm>
          <a:prstGeom prst="roundRect">
            <a:avLst>
              <a:gd name="adj" fmla="val 4912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21644" y="2071070"/>
            <a:ext cx="2172899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Kas &amp; Bank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26800" y="2416439"/>
            <a:ext cx="2060123" cy="1518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Bon biru (masuk) &amp; bon merah (keluar)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Pindah dana antar rekening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Rekonsiliasi bank dari rekening koran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95675" y="1865402"/>
            <a:ext cx="2520950" cy="3973425"/>
          </a:xfrm>
          <a:prstGeom prst="roundRect">
            <a:avLst>
              <a:gd name="adj" fmla="val 4912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01345" y="2071070"/>
            <a:ext cx="2172899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Akuntansi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806501" y="2416439"/>
            <a:ext cx="2060123" cy="1518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Bagan akun (COA) per bulan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Jurnal otomatis dari kas, invoice, pembelian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Buku besar &amp; kertas kerja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Jurnal penyesuaian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5375" y="1865402"/>
            <a:ext cx="2520950" cy="3973425"/>
          </a:xfrm>
          <a:prstGeom prst="roundRect">
            <a:avLst>
              <a:gd name="adj" fmla="val 4912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81045" y="2071070"/>
            <a:ext cx="2172899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Pajak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86201" y="2416439"/>
            <a:ext cx="2060123" cy="109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PPN keluaran &amp; masukan</a:t>
            </a:r>
            <a:endParaRPr lang="en-US" sz="1200" dirty="0"/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PPh 23 dipotong &amp; disetor</a:t>
            </a:r>
            <a:endParaRPr lang="en-US" sz="1200" dirty="0"/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Ekspor XML untuk upload ke Coretax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855075" y="1865402"/>
            <a:ext cx="2520950" cy="3973425"/>
          </a:xfrm>
          <a:prstGeom prst="roundRect">
            <a:avLst>
              <a:gd name="adj" fmla="val 4912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060745" y="2071070"/>
            <a:ext cx="2172899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Administrasi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65901" y="2416439"/>
            <a:ext cx="2060123" cy="109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peran &amp; hak akses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Permintaan perubahan data dengan persetujuan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Notifikasi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58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06</a:t>
            </a:r>
            <a:endParaRPr lang="en-US" sz="12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D228DB-840C-1DD6-D1F7-5E66EAE832E0}"/>
              </a:ext>
            </a:extLst>
          </p:cNvPr>
          <p:cNvCxnSpPr/>
          <p:nvPr/>
        </p:nvCxnSpPr>
        <p:spPr>
          <a:xfrm>
            <a:off x="1019175" y="5026027"/>
            <a:ext cx="2114550" cy="0"/>
          </a:xfrm>
          <a:prstGeom prst="line">
            <a:avLst/>
          </a:prstGeom>
          <a:ln w="9525">
            <a:solidFill>
              <a:srgbClr val="DCE3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DDEDD159-B370-27E9-EBBD-998290777AF3}"/>
              </a:ext>
            </a:extLst>
          </p:cNvPr>
          <p:cNvSpPr/>
          <p:nvPr/>
        </p:nvSpPr>
        <p:spPr>
          <a:xfrm>
            <a:off x="968375" y="5076827"/>
            <a:ext cx="2216150" cy="635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25400" rIns="50800" rtlCol="0" anchor="t"/>
          <a:lstStyle/>
          <a:p>
            <a:r>
              <a:rPr lang="sv-SE" sz="1200" b="1">
                <a:solidFill>
                  <a:srgbClr val="2557D6"/>
                </a:solidFill>
                <a:latin typeface="Inter" panose="02000503000000020004" pitchFamily="2" charset="0"/>
              </a:rPr>
              <a:t>Laporan:</a:t>
            </a:r>
            <a:r>
              <a:rPr lang="sv-SE" sz="1200">
                <a:solidFill>
                  <a:srgbClr val="4A5670"/>
                </a:solidFill>
                <a:latin typeface="Inter" panose="02000503000000020004" pitchFamily="2" charset="0"/>
              </a:rPr>
              <a:t> Laporan Kas per periode &amp; rekening</a:t>
            </a:r>
            <a:endParaRPr lang="en-US" sz="1200">
              <a:solidFill>
                <a:srgbClr val="4A5670"/>
              </a:solidFill>
              <a:latin typeface="Inter" panose="02000503000000020004" pitchFamily="2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19B4635-919E-F73D-25ED-038783EEFDCE}"/>
              </a:ext>
            </a:extLst>
          </p:cNvPr>
          <p:cNvCxnSpPr/>
          <p:nvPr/>
        </p:nvCxnSpPr>
        <p:spPr>
          <a:xfrm>
            <a:off x="3698875" y="5026027"/>
            <a:ext cx="2114550" cy="0"/>
          </a:xfrm>
          <a:prstGeom prst="line">
            <a:avLst/>
          </a:prstGeom>
          <a:ln w="9525">
            <a:solidFill>
              <a:srgbClr val="DCE3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3DF9DC3E-D1F0-033D-4268-94BB8E6C6A46}"/>
              </a:ext>
            </a:extLst>
          </p:cNvPr>
          <p:cNvSpPr/>
          <p:nvPr/>
        </p:nvSpPr>
        <p:spPr>
          <a:xfrm>
            <a:off x="3648075" y="5076827"/>
            <a:ext cx="2216150" cy="635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25400" rIns="50800" rtlCol="0" anchor="t"/>
          <a:lstStyle/>
          <a:p>
            <a:r>
              <a:rPr lang="en-US" sz="1200" b="1">
                <a:solidFill>
                  <a:srgbClr val="2557D6"/>
                </a:solidFill>
                <a:latin typeface="Inter" panose="02000503000000020004" pitchFamily="2" charset="0"/>
              </a:rPr>
              <a:t>Laporan:</a:t>
            </a:r>
            <a:r>
              <a:rPr lang="en-US" sz="1200">
                <a:solidFill>
                  <a:srgbClr val="4A5670"/>
                </a:solidFill>
                <a:latin typeface="Inter" panose="02000503000000020004" pitchFamily="2" charset="0"/>
              </a:rPr>
              <a:t> Laba rugi per proyek &amp; neraca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682033B-87D5-C7E5-5456-1E2C8901015A}"/>
              </a:ext>
            </a:extLst>
          </p:cNvPr>
          <p:cNvCxnSpPr/>
          <p:nvPr/>
        </p:nvCxnSpPr>
        <p:spPr>
          <a:xfrm>
            <a:off x="6378575" y="5026027"/>
            <a:ext cx="2114550" cy="0"/>
          </a:xfrm>
          <a:prstGeom prst="line">
            <a:avLst/>
          </a:prstGeom>
          <a:ln w="9525">
            <a:solidFill>
              <a:srgbClr val="DCE3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27BA927D-D04D-4B27-0CA5-B9FBC3FFEC4D}"/>
              </a:ext>
            </a:extLst>
          </p:cNvPr>
          <p:cNvSpPr/>
          <p:nvPr/>
        </p:nvSpPr>
        <p:spPr>
          <a:xfrm>
            <a:off x="6327775" y="5076827"/>
            <a:ext cx="2216150" cy="635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25400" rIns="50800" rtlCol="0" anchor="t"/>
          <a:lstStyle/>
          <a:p>
            <a:r>
              <a:rPr lang="en-US" sz="1200" b="1">
                <a:solidFill>
                  <a:srgbClr val="2557D6"/>
                </a:solidFill>
                <a:latin typeface="Inter" panose="02000503000000020004" pitchFamily="2" charset="0"/>
              </a:rPr>
              <a:t>Laporan:</a:t>
            </a:r>
            <a:r>
              <a:rPr lang="en-US" sz="1200">
                <a:solidFill>
                  <a:srgbClr val="4A5670"/>
                </a:solidFill>
                <a:latin typeface="Inter" panose="02000503000000020004" pitchFamily="2" charset="0"/>
              </a:rPr>
              <a:t> Rekap PPN &amp; PPh 23 per masa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2E1C304-7729-6DEF-A828-43FE0E8CCAC0}"/>
              </a:ext>
            </a:extLst>
          </p:cNvPr>
          <p:cNvCxnSpPr/>
          <p:nvPr/>
        </p:nvCxnSpPr>
        <p:spPr>
          <a:xfrm>
            <a:off x="9058275" y="5026027"/>
            <a:ext cx="2114550" cy="0"/>
          </a:xfrm>
          <a:prstGeom prst="line">
            <a:avLst/>
          </a:prstGeom>
          <a:ln w="9525">
            <a:solidFill>
              <a:srgbClr val="DCE3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8081B309-BF6F-F2CC-B094-08E6F68CD720}"/>
              </a:ext>
            </a:extLst>
          </p:cNvPr>
          <p:cNvSpPr/>
          <p:nvPr/>
        </p:nvSpPr>
        <p:spPr>
          <a:xfrm>
            <a:off x="9007475" y="5076827"/>
            <a:ext cx="2216150" cy="635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25400" rIns="50800" rtlCol="0" anchor="t"/>
          <a:lstStyle/>
          <a:p>
            <a:r>
              <a:rPr lang="sv-SE" sz="1200" b="1">
                <a:solidFill>
                  <a:srgbClr val="2557D6"/>
                </a:solidFill>
                <a:latin typeface="Inter" panose="02000503000000020004" pitchFamily="2" charset="0"/>
              </a:rPr>
              <a:t>Laporan:</a:t>
            </a:r>
            <a:r>
              <a:rPr lang="sv-SE" sz="1200">
                <a:solidFill>
                  <a:srgbClr val="4A5670"/>
                </a:solidFill>
                <a:latin typeface="Inter" panose="02000503000000020004" pitchFamily="2" charset="0"/>
              </a:rPr>
              <a:t> Dasbor per peran &amp; log aktivitas</a:t>
            </a:r>
            <a:endParaRPr lang="en-US" sz="1200">
              <a:solidFill>
                <a:srgbClr val="4A5670"/>
              </a:solidFill>
              <a:latin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KONTROL DATA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2"/>
            <a:ext cx="10883392" cy="9355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Setiap orang hanya melihat &amp; mengerjakan bagiannya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2311400"/>
            <a:ext cx="893495" cy="381000"/>
          </a:xfrm>
          <a:prstGeom prst="roundRect">
            <a:avLst>
              <a:gd name="adj" fmla="val 50000"/>
            </a:avLst>
          </a:prstGeom>
          <a:solidFill>
            <a:srgbClr val="16233F"/>
          </a:solidFill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941931" y="2311400"/>
            <a:ext cx="1419237" cy="381000"/>
          </a:xfrm>
          <a:prstGeom prst="roundRect">
            <a:avLst>
              <a:gd name="adj" fmla="val 50000"/>
            </a:avLst>
          </a:prstGeom>
          <a:solidFill>
            <a:srgbClr val="E3EBFB"/>
          </a:solidFill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B3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Piutang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62768" y="2311400"/>
            <a:ext cx="1004825" cy="381000"/>
          </a:xfrm>
          <a:prstGeom prst="roundRect">
            <a:avLst>
              <a:gd name="adj" fmla="val 50000"/>
            </a:avLst>
          </a:prstGeom>
          <a:solidFill>
            <a:srgbClr val="E3EBFB"/>
          </a:solidFill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B3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569193" y="2311400"/>
            <a:ext cx="1788858" cy="381000"/>
          </a:xfrm>
          <a:prstGeom prst="roundRect">
            <a:avLst>
              <a:gd name="adj" fmla="val 50000"/>
            </a:avLst>
          </a:prstGeom>
          <a:solidFill>
            <a:srgbClr val="E3EBFB"/>
          </a:solidFill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B3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Accounting &amp; Tax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459651" y="2311400"/>
            <a:ext cx="1127150" cy="381000"/>
          </a:xfrm>
          <a:prstGeom prst="roundRect">
            <a:avLst>
              <a:gd name="adj" fmla="val 50000"/>
            </a:avLst>
          </a:prstGeom>
          <a:solidFill>
            <a:srgbClr val="E3EBFB"/>
          </a:solidFill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B3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Purchase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07895" y="2311400"/>
            <a:ext cx="3032436" cy="381000"/>
          </a:xfrm>
          <a:prstGeom prst="roundRect">
            <a:avLst>
              <a:gd name="adj" fmla="val 50000"/>
            </a:avLst>
          </a:prstGeom>
          <a:solidFill>
            <a:srgbClr val="E3EBFB"/>
          </a:solidFill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>
                <a:solidFill>
                  <a:srgbClr val="1B3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Logistik · ekspedisi &amp; pengemudi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5975" y="3443024"/>
            <a:ext cx="3414183" cy="2395802"/>
          </a:xfrm>
          <a:prstGeom prst="roundRect">
            <a:avLst>
              <a:gd name="adj" fmla="val 5168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0" descr="Lo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47044" y="3674092"/>
            <a:ext cx="330200" cy="3302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047044" y="4105892"/>
            <a:ext cx="3040606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Ubah data lewat persetujuan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047044" y="4451263"/>
            <a:ext cx="3040606" cy="949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Hanya Admin yang mengubah / menghapus. Staf mengajukan dengan catatan</a:t>
            </a:r>
            <a:r>
              <a:rPr lang="en-US" sz="13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disetujui Accounting, </a:t>
            </a: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lalu dikerjakan Admin.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388908" y="3443024"/>
            <a:ext cx="3414183" cy="2395802"/>
          </a:xfrm>
          <a:prstGeom prst="roundRect">
            <a:avLst>
              <a:gd name="adj" fmla="val 5168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1" descr="CheckCircle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9978" y="3674092"/>
            <a:ext cx="330200" cy="3302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619978" y="4105892"/>
            <a:ext cx="3040606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Persetujuan order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4619978" y="4451263"/>
            <a:ext cx="3040606" cy="718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disetujui setelah pelanggan &amp; proyek dicek. PR yang disetujui Finance langsung jadi PO.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961842" y="3443024"/>
            <a:ext cx="3414183" cy="2395802"/>
          </a:xfrm>
          <a:prstGeom prst="roundRect">
            <a:avLst>
              <a:gd name="adj" fmla="val 5168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2" descr="Activity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92912" y="3674092"/>
            <a:ext cx="330200" cy="330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192912" y="4105892"/>
            <a:ext cx="3040606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Jejak lengkap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8192912" y="4451263"/>
            <a:ext cx="3040606" cy="718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transaksi mencatat siapa, kapan dan nomor dokumennya, siap untuk audit.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812800" y="6238258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BUKAN SEKADAR KONSEP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2"/>
            <a:ext cx="10883392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Prototype 68 halaman </a:t>
            </a:r>
            <a:r>
              <a:rPr lang="en-US" sz="3200" b="1" i="0" dirty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sudah bisa dicoba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62227"/>
            <a:ext cx="3403600" cy="2159000"/>
          </a:xfrm>
          <a:prstGeom prst="roundRect">
            <a:avLst>
              <a:gd name="adj" fmla="val 4706"/>
            </a:avLst>
          </a:prstGeom>
          <a:solidFill>
            <a:srgbClr val="F5F7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12800" y="4122824"/>
            <a:ext cx="35057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Surat Jalan &amp; Ekspedisi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12800" y="4453024"/>
            <a:ext cx="3505708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Estimasi tiba, update posisi, lama telat ekspedisi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94200" y="1862227"/>
            <a:ext cx="3403600" cy="2159000"/>
          </a:xfrm>
          <a:prstGeom prst="roundRect">
            <a:avLst>
              <a:gd name="adj" fmla="val 4706"/>
            </a:avLst>
          </a:prstGeom>
          <a:solidFill>
            <a:srgbClr val="F5F7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4394200" y="4122824"/>
            <a:ext cx="35057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Pemulangan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394200" y="4453024"/>
            <a:ext cx="3505708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Dijemput dari stok proyek dalam satu surat jalan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975600" y="1862227"/>
            <a:ext cx="3403600" cy="2159000"/>
          </a:xfrm>
          <a:prstGeom prst="roundRect">
            <a:avLst>
              <a:gd name="adj" fmla="val 4706"/>
            </a:avLst>
          </a:prstGeom>
          <a:solidFill>
            <a:srgbClr val="F5F7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7975600" y="4122824"/>
            <a:ext cx="35057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Rekap Tagihan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7975600" y="4453024"/>
            <a:ext cx="3505708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fi-FI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Hari × qty × tarif harian dari surat jalan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812800" y="5593116"/>
            <a:ext cx="10883392" cy="274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960"/>
              </a:lnSpc>
            </a:pPr>
            <a:r>
              <a:rPr lang="en-US" sz="14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Coba langsung: 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https://tkn-project-management.netlify.app/</a:t>
            </a:r>
            <a:r>
              <a:rPr lang="en-US" sz="14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login demo per peran tersedia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12800" y="6238261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A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08</a:t>
            </a:r>
            <a:endParaRPr lang="en-US" sz="12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BCEB183-385C-C344-C91B-7B09FCED5BD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961562"/>
            <a:ext cx="3403600" cy="19696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CF9FC3C-4CF3-A945-9A46-64F9238DBD02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430486" y="1866900"/>
            <a:ext cx="3331028" cy="2159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2CC6BEF-151D-F54B-67AE-0DDB334C3ADE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8344988" y="1866900"/>
            <a:ext cx="2664823" cy="215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18592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TEKNOLOGI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78545"/>
            <a:ext cx="4185920" cy="1390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Aplikasi web, bisa dibuka dari mana saja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2696195"/>
            <a:ext cx="4185920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Tidak perlu instal. Kantor</a:t>
            </a:r>
            <a:r>
              <a:rPr lang="en-US" sz="15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gudang dan logistik memakai </a:t>
            </a:r>
            <a:r>
              <a:rPr lang="en-US" sz="15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yang sama lewat browser di laptop atau HP.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2526069"/>
              </p:ext>
            </p:extLst>
          </p:nvPr>
        </p:nvGraphicFramePr>
        <p:xfrm>
          <a:off x="5396089" y="824089"/>
          <a:ext cx="5983111" cy="2691696"/>
        </p:xfrm>
        <a:graphic>
          <a:graphicData uri="http://schemas.openxmlformats.org/drawingml/2006/table">
            <a:tbl>
              <a:tblPr/>
              <a:tblGrid>
                <a:gridCol w="2034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48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528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Komponen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Yang dipakai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528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Aplikasi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Laravel (PHP) + MySQL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528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Akses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Browser laptop &amp; HP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528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 server, HTTPS / SSL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528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Backup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Otomatis mingguan, terpisah dari data utama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528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Keamanan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Login per pengguna, hak akses per peran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528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Pajak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Ekspor XML format Coretax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12800" y="6238261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JADWAL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5"/>
            <a:ext cx="11379200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bulan: 1 bulan pengerjaan, 4 bulan testing &amp; maintenance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9854140"/>
              </p:ext>
            </p:extLst>
          </p:nvPr>
        </p:nvGraphicFramePr>
        <p:xfrm>
          <a:off x="824089" y="1873513"/>
          <a:ext cx="10555111" cy="2646053"/>
        </p:xfrm>
        <a:graphic>
          <a:graphicData uri="http://schemas.openxmlformats.org/drawingml/2006/table">
            <a:tbl>
              <a:tblPr/>
              <a:tblGrid>
                <a:gridCol w="27443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21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42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43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7893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Waktu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Kegiatan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Hasil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963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1. Pengerjaan sistem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Bulan 1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Finalisasi alur dari prototype, pembuatan semua modul, setup server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Sistem siap diuji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893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 Testing (UAT) &amp; go-live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Bulan 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it-IT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Uji coba bersama tim klien, migrasi data, pelatihan per peran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Sistem berjalan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893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 Testing lanjutan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Bulan 3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fi-FI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Uji pemakaian harian, perbaikan temuan, penyesuaian kecil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Alur sesuai operasional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8963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 Maintenance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Bulan 4–5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Perbaikan bug, backup mingguan, update keamanan, monitoring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Sistem stabil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238261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313944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INVESTASI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78545"/>
            <a:ext cx="3139440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Rincian biaya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86024"/>
            <a:ext cx="3048000" cy="1965766"/>
          </a:xfrm>
          <a:prstGeom prst="roundRect">
            <a:avLst>
              <a:gd name="adj" fmla="val 7753"/>
            </a:avLst>
          </a:prstGeom>
          <a:solidFill>
            <a:srgbClr val="1623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1400" y="2014624"/>
            <a:ext cx="2668524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Total, fixed price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1400" y="2278769"/>
            <a:ext cx="2668524" cy="807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Rp100.000.000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41400" y="3111853"/>
            <a:ext cx="2668524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Tidak ada biaya tambahan selama cakupan tidak berubah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3904190"/>
            <a:ext cx="313944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32500" lnSpcReduction="20000"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Hosting, maintenance &amp; backup mingguan termasuk selama tahun pertama. Harga belum termasuk PPN [jika ada].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39977"/>
              </p:ext>
            </p:extLst>
          </p:nvPr>
        </p:nvGraphicFramePr>
        <p:xfrm>
          <a:off x="4329289" y="824089"/>
          <a:ext cx="7049911" cy="4636380"/>
        </p:xfrm>
        <a:graphic>
          <a:graphicData uri="http://schemas.openxmlformats.org/drawingml/2006/table">
            <a:tbl>
              <a:tblPr/>
              <a:tblGrid>
                <a:gridCol w="50759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73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Komponen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Biaya (Rp)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Analisis kebutuhan &amp; desain sistem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Modul administrasi, peran &amp; persetujuan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s-ES" sz="12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Modul pelanggan, proyek, sewa &amp; jual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nb-NO" sz="12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Modul logistik, stok, ekspedisi &amp; klaim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Modul tagihan, invoice &amp; pembayaran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Modul pembelian &amp; hutang dagang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Modul kas &amp; bank, akuntansi, pajak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Migrasi data &amp; konfigurasi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Pengujian (UAT) &amp; go-live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fi-FI" sz="12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Hosting, domain &amp; SSL tahun pertama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Pelatihan pengguna per peran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Testing &amp; maintenance 4 bulan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Total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0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0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0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0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0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12800" y="6238261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 PEMBAYARAN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5"/>
            <a:ext cx="10883392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Dibayar bertahap, mengikuti hasil kerja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655888"/>
            <a:ext cx="2527300" cy="1889566"/>
          </a:xfrm>
          <a:prstGeom prst="roundRect">
            <a:avLst>
              <a:gd name="adj" fmla="val 8065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6800" y="2909888"/>
            <a:ext cx="207987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30%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66800" y="3455988"/>
            <a:ext cx="2079879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Rp30.000.000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6800" y="3829317"/>
            <a:ext cx="2079879" cy="487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Saat kontrak ditandatangani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92500" y="2655888"/>
            <a:ext cx="2527300" cy="1889566"/>
          </a:xfrm>
          <a:prstGeom prst="roundRect">
            <a:avLst>
              <a:gd name="adj" fmla="val 8065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746500" y="2909888"/>
            <a:ext cx="207987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30%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746500" y="3455988"/>
            <a:ext cx="2079879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Rp30.000.000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46500" y="3829317"/>
            <a:ext cx="2079879" cy="487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Pengerjaan selesai, siap diuji (akhir bulan 1)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72200" y="2655888"/>
            <a:ext cx="2527300" cy="1889566"/>
          </a:xfrm>
          <a:prstGeom prst="roundRect">
            <a:avLst>
              <a:gd name="adj" fmla="val 8065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26200" y="2909888"/>
            <a:ext cx="207987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30%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426200" y="3455988"/>
            <a:ext cx="2079879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Rp30.000.000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26200" y="3829317"/>
            <a:ext cx="2079879" cy="487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Lolos testing, go-live (akhir bulan 2)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51900" y="2655888"/>
            <a:ext cx="2527300" cy="1889566"/>
          </a:xfrm>
          <a:prstGeom prst="roundRect">
            <a:avLst>
              <a:gd name="adj" fmla="val 8065"/>
            </a:avLst>
          </a:prstGeom>
          <a:solidFill>
            <a:srgbClr val="255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05900" y="2909888"/>
            <a:ext cx="207987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10%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105900" y="3455988"/>
            <a:ext cx="2079879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Rp10.000.000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05900" y="3829317"/>
            <a:ext cx="2079879" cy="487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fr-FR" sz="1300">
                <a:solidFill>
                  <a:srgbClr val="E3EB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Akhir masa maintenance (bulan 5)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2800" y="5593116"/>
            <a:ext cx="10883392" cy="274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 terakhir sebagai jaminan: dibayar setelah sistem terbukti stabil.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12800" y="6238261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A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CAKUPAN BIAYA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5"/>
            <a:ext cx="10883392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termasuk dan yang tidak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65399"/>
            <a:ext cx="5200650" cy="3973425"/>
          </a:xfrm>
          <a:prstGeom prst="roundRect">
            <a:avLst>
              <a:gd name="adj" fmla="val 3116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2444" y="2121874"/>
            <a:ext cx="4828342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3A8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Termasuk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75375" y="1865399"/>
            <a:ext cx="5200650" cy="3973425"/>
          </a:xfrm>
          <a:prstGeom prst="roundRect">
            <a:avLst>
              <a:gd name="adj" fmla="val 3116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31845" y="2121874"/>
            <a:ext cx="4828342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4A56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Tidak termasuk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29889" y="2523158"/>
            <a:ext cx="4722678" cy="12221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Perangkat keras: laptop, HP, printer</a:t>
            </a:r>
            <a:endParaRPr lang="en-US" sz="1300" dirty="0"/>
          </a:p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GPS tracking otomatis &amp; WhatsApp API</a:t>
            </a:r>
            <a:endParaRPr lang="en-US" sz="1300" dirty="0"/>
          </a:p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Integrasi langsung ke sistem DJP / bank</a:t>
            </a:r>
            <a:endParaRPr lang="en-US" sz="1300" dirty="0"/>
          </a:p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Fitur baru di luar proposal (dihitung terpisah)</a:t>
            </a:r>
            <a:endParaRPr lang="en-US" sz="1300" dirty="0"/>
          </a:p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Hosting &amp; maintenance </a:t>
            </a:r>
            <a:r>
              <a:rPr lang="en-US" sz="1300" dirty="0" err="1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mulai</a:t>
            </a: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dirty="0" err="1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tahun</a:t>
            </a: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dirty="0" err="1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kedua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12800" y="6238261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13</a:t>
            </a:r>
            <a:endParaRPr lang="en-US" sz="1200" dirty="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5246F0B6-065D-119A-75B5-81D1F08FC10E}"/>
              </a:ext>
            </a:extLst>
          </p:cNvPr>
          <p:cNvSpPr/>
          <p:nvPr/>
        </p:nvSpPr>
        <p:spPr>
          <a:xfrm>
            <a:off x="1178108" y="2523157"/>
            <a:ext cx="4722678" cy="1779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5956" indent="-155956">
              <a:buSzPct val="100000"/>
              <a:buChar char="•"/>
            </a:pPr>
            <a:r>
              <a:rPr lang="en-US" sz="1400" dirty="0" err="1"/>
              <a:t>Semua</a:t>
            </a:r>
            <a:r>
              <a:rPr lang="en-US" sz="1400" dirty="0"/>
              <a:t> </a:t>
            </a:r>
            <a:r>
              <a:rPr lang="en-US" sz="1400" dirty="0" err="1"/>
              <a:t>modul</a:t>
            </a:r>
            <a:r>
              <a:rPr lang="en-US" sz="1400" dirty="0"/>
              <a:t> </a:t>
            </a:r>
            <a:r>
              <a:rPr lang="en-US" sz="1400" dirty="0" err="1"/>
              <a:t>dalam</a:t>
            </a:r>
            <a:r>
              <a:rPr lang="en-US" sz="1400" dirty="0"/>
              <a:t> proposal </a:t>
            </a:r>
            <a:r>
              <a:rPr lang="en-US" sz="1400" dirty="0" err="1"/>
              <a:t>ini</a:t>
            </a:r>
            <a:endParaRPr lang="en-US" sz="1400" dirty="0"/>
          </a:p>
          <a:p>
            <a:pPr marL="155956" indent="-155956">
              <a:buSzPct val="100000"/>
              <a:buChar char="•"/>
            </a:pPr>
            <a:r>
              <a:rPr lang="en-US" sz="1400" dirty="0"/>
              <a:t>Hosting, domain &amp; SSL </a:t>
            </a:r>
            <a:r>
              <a:rPr lang="en-US" sz="1400" dirty="0" err="1"/>
              <a:t>tahun</a:t>
            </a:r>
            <a:r>
              <a:rPr lang="en-US" sz="1400" dirty="0"/>
              <a:t> </a:t>
            </a:r>
            <a:r>
              <a:rPr lang="en-US" sz="1400" dirty="0" err="1"/>
              <a:t>pertama</a:t>
            </a:r>
            <a:r>
              <a:rPr lang="en-US" sz="1400" dirty="0"/>
              <a:t> </a:t>
            </a:r>
          </a:p>
          <a:p>
            <a:pPr marL="155956" indent="-155956">
              <a:buSzPct val="100000"/>
              <a:buChar char="•"/>
            </a:pPr>
            <a:r>
              <a:rPr lang="en-US" sz="1400" dirty="0"/>
              <a:t>Maintenance web server &amp; backup database </a:t>
            </a:r>
            <a:r>
              <a:rPr lang="en-US" sz="1400" dirty="0" err="1"/>
              <a:t>mingguan</a:t>
            </a:r>
            <a:r>
              <a:rPr lang="en-US" sz="1400" dirty="0"/>
              <a:t> </a:t>
            </a:r>
            <a:r>
              <a:rPr lang="en-US" sz="1400" dirty="0" err="1"/>
              <a:t>tahun</a:t>
            </a:r>
            <a:r>
              <a:rPr lang="en-US" sz="1400" dirty="0"/>
              <a:t> </a:t>
            </a:r>
            <a:r>
              <a:rPr lang="en-US" sz="1400" dirty="0" err="1"/>
              <a:t>pertama</a:t>
            </a:r>
            <a:endParaRPr lang="en-US" sz="1400" dirty="0"/>
          </a:p>
          <a:p>
            <a:pPr marL="155956" indent="-155956">
              <a:buSzPct val="100000"/>
              <a:buChar char="•"/>
            </a:pPr>
            <a:r>
              <a:rPr lang="en-US" sz="1400" dirty="0" err="1"/>
              <a:t>Migrasi</a:t>
            </a:r>
            <a:r>
              <a:rPr lang="en-US" sz="1400" dirty="0"/>
              <a:t> data </a:t>
            </a:r>
            <a:r>
              <a:rPr lang="en-US" sz="1400" dirty="0" err="1"/>
              <a:t>dari</a:t>
            </a:r>
            <a:r>
              <a:rPr lang="en-US" sz="1400" dirty="0"/>
              <a:t> Excel / </a:t>
            </a:r>
            <a:r>
              <a:rPr lang="en-US" sz="1400" dirty="0" err="1"/>
              <a:t>sistem</a:t>
            </a:r>
            <a:r>
              <a:rPr lang="en-US" sz="1400" dirty="0"/>
              <a:t> lama </a:t>
            </a:r>
          </a:p>
          <a:p>
            <a:pPr marL="155956" indent="-155956">
              <a:buSzPct val="100000"/>
              <a:buChar char="•"/>
            </a:pPr>
            <a:r>
              <a:rPr lang="en-US" sz="1400" dirty="0" err="1"/>
              <a:t>Pelatihan</a:t>
            </a:r>
            <a:r>
              <a:rPr lang="en-US" sz="1400" dirty="0"/>
              <a:t> per </a:t>
            </a:r>
            <a:r>
              <a:rPr lang="en-US" sz="1400" dirty="0" err="1"/>
              <a:t>peran</a:t>
            </a:r>
            <a:r>
              <a:rPr lang="en-US" sz="1400" dirty="0"/>
              <a:t> &amp; </a:t>
            </a:r>
            <a:r>
              <a:rPr lang="en-US" sz="1400" dirty="0" err="1"/>
              <a:t>panduan</a:t>
            </a:r>
            <a:r>
              <a:rPr lang="en-US" sz="1400" dirty="0"/>
              <a:t> </a:t>
            </a:r>
            <a:r>
              <a:rPr lang="en-US" sz="1400" dirty="0" err="1"/>
              <a:t>pengguna</a:t>
            </a:r>
            <a:r>
              <a:rPr lang="en-US" sz="1400" dirty="0"/>
              <a:t> </a:t>
            </a:r>
          </a:p>
          <a:p>
            <a:pPr marL="155956" indent="-155956">
              <a:buSzPct val="100000"/>
              <a:buChar char="•"/>
            </a:pPr>
            <a:r>
              <a:rPr lang="en-US" sz="1400" dirty="0"/>
              <a:t>Testing, go-live &amp; maintenance 4 </a:t>
            </a:r>
            <a:r>
              <a:rPr lang="en-US" sz="1400" dirty="0" err="1"/>
              <a:t>bulan</a:t>
            </a:r>
            <a:r>
              <a:rPr lang="en-US" sz="1400" dirty="0"/>
              <a:t> </a:t>
            </a:r>
          </a:p>
          <a:p>
            <a:pPr marL="155956" indent="-155956">
              <a:buSzPct val="100000"/>
              <a:buChar char="•"/>
            </a:pPr>
            <a:r>
              <a:rPr lang="en-US" sz="1400" dirty="0" err="1"/>
              <a:t>Perbaikan</a:t>
            </a:r>
            <a:r>
              <a:rPr lang="en-US" sz="1400" dirty="0"/>
              <a:t> bug </a:t>
            </a:r>
            <a:r>
              <a:rPr lang="en-US" sz="1400" dirty="0" err="1"/>
              <a:t>tanpa</a:t>
            </a:r>
            <a:r>
              <a:rPr lang="en-US" sz="1400" dirty="0"/>
              <a:t> </a:t>
            </a:r>
            <a:r>
              <a:rPr lang="en-US" sz="1400" dirty="0" err="1"/>
              <a:t>biaya</a:t>
            </a:r>
            <a:r>
              <a:rPr lang="en-US" sz="1400" dirty="0"/>
              <a:t> </a:t>
            </a:r>
            <a:r>
              <a:rPr lang="en-US" sz="1400" dirty="0" err="1"/>
              <a:t>selama</a:t>
            </a:r>
            <a:r>
              <a:rPr lang="en-US" sz="1400" dirty="0"/>
              <a:t> masa maintenance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SETELAH TAHUN PERTAMA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5"/>
            <a:ext cx="10883392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fi-FI" sz="3200" b="1" i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Biaya rutin mulai tahun ke-2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16199"/>
            <a:ext cx="3414183" cy="2244990"/>
          </a:xfrm>
          <a:prstGeom prst="roundRect">
            <a:avLst>
              <a:gd name="adj" fmla="val 5516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Cloud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2444" y="2172674"/>
            <a:ext cx="330200" cy="33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2444" y="2604474"/>
            <a:ext cx="2988282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Hosting, domain &amp; SSL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72444" y="2949842"/>
            <a:ext cx="2988282" cy="416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>
                <a:solidFill>
                  <a:srgbClr val="2557D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± Rp2,5 jt / tahun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72444" y="3442581"/>
            <a:ext cx="2988282" cy="487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Gratis tahun pertama. Mengikuti harga penyedia cloud saat perpanjangan.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88908" y="1916199"/>
            <a:ext cx="3414183" cy="2244990"/>
          </a:xfrm>
          <a:prstGeom prst="roundRect">
            <a:avLst>
              <a:gd name="adj" fmla="val 5516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Wren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45378" y="2172674"/>
            <a:ext cx="330200" cy="330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45378" y="2604474"/>
            <a:ext cx="2988282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Maintenance &amp; backup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645378" y="2949842"/>
            <a:ext cx="2988282" cy="416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>
                <a:solidFill>
                  <a:srgbClr val="2557D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Rp6 jt / tahun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645378" y="3442581"/>
            <a:ext cx="2988282" cy="487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fi-FI" sz="13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Gratis tahun pertama. Keamanan, monitoring &amp; backup mingguan.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961842" y="1916199"/>
            <a:ext cx="3414183" cy="2244990"/>
          </a:xfrm>
          <a:prstGeom prst="roundRect">
            <a:avLst>
              <a:gd name="adj" fmla="val 5516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Lightbulb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18312" y="2172674"/>
            <a:ext cx="330200" cy="330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18312" y="2604474"/>
            <a:ext cx="2988282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Fitur baru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18312" y="2949842"/>
            <a:ext cx="2988282" cy="416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2557D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 permintaan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218312" y="3442581"/>
            <a:ext cx="2988282" cy="487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Diestimasi bersama, disetujui tertulis sebelum dikerjakan.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12800" y="6238261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3048000" cy="6858000"/>
          </a:xfrm>
          <a:prstGeom prst="rect">
            <a:avLst/>
          </a:prstGeom>
          <a:gradFill rotWithShape="1">
            <a:gsLst>
              <a:gs pos="0">
                <a:srgbClr val="2557D6"/>
              </a:gs>
              <a:gs pos="100000">
                <a:srgbClr val="1B3A86"/>
              </a:gs>
            </a:gsLst>
            <a:lin ang="4200000" scaled="0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12800" y="1658764"/>
            <a:ext cx="6069584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LANGKAH BERIKUTNYA</a:t>
            </a:r>
            <a:endParaRPr lang="en-US" sz="12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2126103"/>
            <a:ext cx="6069584" cy="1534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it-IT" sz="3600" b="1" i="0" dirty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Mulai dari demo prototype, sistem jalan di bulan ke-2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12800" y="3888761"/>
            <a:ext cx="6069584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r>
              <a:rPr lang="en-US" sz="1600" dirty="0">
                <a:solidFill>
                  <a:srgbClr val="E8EE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Demo prototype &amp; review proposal bersama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" y="4300184"/>
            <a:ext cx="6069584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r>
              <a:rPr lang="en-US" sz="1600" dirty="0">
                <a:solidFill>
                  <a:srgbClr val="E8EE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Sepakati cakupan &amp; tanda tangan kontrak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12800" y="4711613"/>
            <a:ext cx="6069584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r>
              <a:rPr lang="en-US" sz="1600" dirty="0">
                <a:solidFill>
                  <a:srgbClr val="E8EE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Termin 1 (30%) &amp; kick-off proyek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0" y="2011716"/>
            <a:ext cx="4064000" cy="2631369"/>
          </a:xfrm>
          <a:prstGeom prst="roundRect">
            <a:avLst>
              <a:gd name="adj" fmla="val 5792"/>
            </a:avLst>
          </a:prstGeom>
          <a:solidFill>
            <a:srgbClr val="F5F7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620000" y="2316516"/>
            <a:ext cx="3558032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Hubungi kami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620000" y="2717800"/>
            <a:ext cx="355803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Muhamad Erzie Aldrian N.</a:t>
            </a:r>
            <a:endParaRPr lang="en-US" sz="1400" b="1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 IT Freelance</a:t>
            </a:r>
            <a:endParaRPr lang="en-US" sz="14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081281480122</a:t>
            </a:r>
            <a:endParaRPr lang="en-US" sz="14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erzie.aldrian02@gmail.com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620000" y="3911600"/>
            <a:ext cx="3558032" cy="4520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Penawaran berlaku 30 hari sejak tanggal proposal.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61"/>
            <a:ext cx="78486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A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15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posal EquipRent Enterprise">
  <a:themeElements>
    <a:clrScheme name="Proposal EquipRent Enterprise">
      <a:dk1>
        <a:srgbClr val="16233F"/>
      </a:dk1>
      <a:lt1>
        <a:srgbClr val="F5F7FB"/>
      </a:lt1>
      <a:dk2>
        <a:srgbClr val="4E586E"/>
      </a:dk2>
      <a:lt2>
        <a:srgbClr val="DFE2E8"/>
      </a:lt2>
      <a:accent1>
        <a:srgbClr val="2557D6"/>
      </a:accent1>
      <a:accent2>
        <a:srgbClr val="8FB0F5"/>
      </a:accent2>
      <a:accent3>
        <a:srgbClr val="1B3A86"/>
      </a:accent3>
      <a:accent4>
        <a:srgbClr val="22325A"/>
      </a:accent4>
      <a:accent5>
        <a:srgbClr val="8A9AC0"/>
      </a:accent5>
      <a:accent6>
        <a:srgbClr val="2F6BEA"/>
      </a:accent6>
      <a:hlink>
        <a:srgbClr val="0563C1"/>
      </a:hlink>
      <a:folHlink>
        <a:srgbClr val="954F72"/>
      </a:folHlink>
    </a:clrScheme>
    <a:fontScheme name="Proposal EquipRent Enterprise">
      <a:majorFont>
        <a:latin typeface="Plus Jakarta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1835</Words>
  <Application>Microsoft Office PowerPoint</Application>
  <PresentationFormat>Widescreen</PresentationFormat>
  <Paragraphs>303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Inter</vt:lpstr>
      <vt:lpstr>Plus Jakarta Sans</vt:lpstr>
      <vt:lpstr>Proposal EquipRent Enterprise</vt:lpstr>
      <vt:lpstr>EquipRent Enterprise</vt:lpstr>
      <vt:lpstr>Satu sistem untuk seluruh alur bisnis rental &amp; jual alat berat, dari order pelanggan sampai laporan pajak.</vt:lpstr>
      <vt:lpstr>Operasional berjalan, tapi datanya terpisah-pisah</vt:lpstr>
      <vt:lpstr>Satu alur, dari order sampai laporan pajak</vt:lpstr>
      <vt:lpstr>Operasional: sewa &amp; jual, tagihan, logistik, pembelian</vt:lpstr>
      <vt:lpstr>Keuangan: kas, akuntansi, pajak, administrasi</vt:lpstr>
      <vt:lpstr>Setiap orang hanya melihat &amp; mengerjakan bagiannya</vt:lpstr>
      <vt:lpstr>Prototype 68 halaman sudah bisa dicoba</vt:lpstr>
      <vt:lpstr>Aplikasi web, bisa dibuka dari mana saja</vt:lpstr>
      <vt:lpstr>5 bulan: 1 bulan pengerjaan, 4 bulan testing &amp; maintenance</vt:lpstr>
      <vt:lpstr>Rincian biaya</vt:lpstr>
      <vt:lpstr>Dibayar bertahap, mengikuti hasil kerja</vt:lpstr>
      <vt:lpstr>Yang termasuk dan yang tidak</vt:lpstr>
      <vt:lpstr>Biaya rutin mulai tahun ke-2</vt:lpstr>
      <vt:lpstr>Mulai dari demo prototype, sistem jalan di bulan ke-2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EquipRent Enterprise</dc:title>
  <dc:subject/>
  <dc:creator/>
  <cp:lastModifiedBy>Muhamad Erzie Aldrian Nugraha</cp:lastModifiedBy>
  <cp:revision>5</cp:revision>
  <dcterms:created xsi:type="dcterms:W3CDTF">2026-10-10T09:08:35Z</dcterms:created>
  <dcterms:modified xsi:type="dcterms:W3CDTF">2026-10-12T06:52:17Z</dcterms:modified>
</cp:coreProperties>
</file>